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1" r:id="rId6"/>
    <p:sldId id="259" r:id="rId7"/>
    <p:sldId id="267" r:id="rId8"/>
    <p:sldId id="260" r:id="rId9"/>
    <p:sldId id="264" r:id="rId10"/>
    <p:sldId id="269" r:id="rId11"/>
    <p:sldId id="270" r:id="rId12"/>
    <p:sldId id="262" r:id="rId13"/>
    <p:sldId id="263" r:id="rId14"/>
    <p:sldId id="261" r:id="rId15"/>
    <p:sldId id="265" r:id="rId16"/>
    <p:sldId id="268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2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6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80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27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3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5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5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5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11383-452E-49E7-AD45-529831154A15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B1851-DDA3-4C0B-BB67-5DE1792F4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25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54866"/>
            <a:ext cx="2300577" cy="17428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32666" y="747683"/>
            <a:ext cx="908569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Smartremit.ai: </a:t>
            </a:r>
            <a:endParaRPr lang="en-US" sz="4400" b="1" dirty="0" smtClean="0">
              <a:solidFill>
                <a:srgbClr val="0070C0"/>
              </a:solidFill>
            </a:endParaRPr>
          </a:p>
          <a:p>
            <a:endParaRPr lang="en-US" sz="4400" b="1" dirty="0">
              <a:solidFill>
                <a:srgbClr val="0070C0"/>
              </a:solidFill>
            </a:endParaRPr>
          </a:p>
          <a:p>
            <a:r>
              <a:rPr lang="en-US" sz="4400" b="1" dirty="0" smtClean="0">
                <a:solidFill>
                  <a:srgbClr val="0070C0"/>
                </a:solidFill>
              </a:rPr>
              <a:t>Revolutionizing </a:t>
            </a:r>
            <a:r>
              <a:rPr lang="en-US" sz="4400" b="1" dirty="0">
                <a:solidFill>
                  <a:srgbClr val="0070C0"/>
                </a:solidFill>
              </a:rPr>
              <a:t>Cross-Border Transfers via Conversational AI</a:t>
            </a:r>
          </a:p>
          <a:p>
            <a:r>
              <a:rPr lang="en-US" sz="4400" i="1" dirty="0" smtClean="0">
                <a:solidFill>
                  <a:srgbClr val="0070C0"/>
                </a:solidFill>
              </a:rPr>
              <a:t>"</a:t>
            </a:r>
            <a:r>
              <a:rPr lang="en-US" sz="4400" i="1" dirty="0">
                <a:solidFill>
                  <a:srgbClr val="0070C0"/>
                </a:solidFill>
              </a:rPr>
              <a:t>Text Money. </a:t>
            </a:r>
            <a:r>
              <a:rPr lang="en-US" sz="4400" i="1" dirty="0" smtClean="0">
                <a:solidFill>
                  <a:srgbClr val="0070C0"/>
                </a:solidFill>
              </a:rPr>
              <a:t>Delivered Globally</a:t>
            </a:r>
            <a:r>
              <a:rPr lang="en-US" sz="4400" i="1" dirty="0">
                <a:solidFill>
                  <a:srgbClr val="0070C0"/>
                </a:solidFill>
              </a:rPr>
              <a:t>. Instantly</a:t>
            </a:r>
            <a:r>
              <a:rPr lang="en-US" sz="4400" i="1" dirty="0" smtClean="0">
                <a:solidFill>
                  <a:srgbClr val="0070C0"/>
                </a:solidFill>
              </a:rPr>
              <a:t>.“</a:t>
            </a:r>
          </a:p>
          <a:p>
            <a:endParaRPr lang="en-US" sz="4400" i="1" dirty="0">
              <a:solidFill>
                <a:srgbClr val="0070C0"/>
              </a:solidFill>
            </a:endParaRPr>
          </a:p>
          <a:p>
            <a:r>
              <a:rPr lang="en-US" sz="4400" i="1" dirty="0" smtClean="0">
                <a:solidFill>
                  <a:srgbClr val="0070C0"/>
                </a:solidFill>
              </a:rPr>
              <a:t>-</a:t>
            </a:r>
            <a:r>
              <a:rPr lang="en-US" sz="4400" i="1" dirty="0" err="1" smtClean="0">
                <a:solidFill>
                  <a:srgbClr val="0070C0"/>
                </a:solidFill>
              </a:rPr>
              <a:t>Smartremit</a:t>
            </a:r>
            <a:r>
              <a:rPr lang="en-US" sz="4400" i="1" dirty="0" smtClean="0">
                <a:solidFill>
                  <a:srgbClr val="0070C0"/>
                </a:solidFill>
              </a:rPr>
              <a:t> team</a:t>
            </a:r>
            <a:endParaRPr lang="en-US" sz="4400" dirty="0">
              <a:solidFill>
                <a:srgbClr val="0070C0"/>
              </a:solidFill>
            </a:endParaRPr>
          </a:p>
          <a:p>
            <a:endParaRPr lang="en-US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34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278" y="206733"/>
            <a:ext cx="9144000" cy="65077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Executive Summary &amp; Mission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75861" y="1132403"/>
            <a:ext cx="11640709" cy="467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Reimagining Remittances for the Mobile-First Era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The Vision: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 To build the world's most accessible financial layer by transforming chat threads into global transaction channels.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What We Do: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 Smartremit.ai allows migrant workers and international senders to initiate instant cross-border money transfers directly within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WhatsApp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 without downloading standalone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The Core Thesis: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ahnschrift" panose="020B0502040204020203" pitchFamily="34" charset="0"/>
              </a:rPr>
              <a:t> By embedding complex financial operations into a simple, natural language chat interface, we completely remove the barriers of technical literacy, app fragmentation, and retail friction.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Bahnschrift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9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13684" y="220652"/>
            <a:ext cx="9144000" cy="6507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 Problem We Solve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18984" y="1157014"/>
            <a:ext cx="11092069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Friction in the Current $905 Billion Market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App Fatigue:</a:t>
            </a:r>
            <a:r>
              <a:rPr lang="en-US" sz="2800" dirty="0">
                <a:solidFill>
                  <a:srgbClr val="0070C0"/>
                </a:solidFill>
              </a:rPr>
              <a:t> Standard digital transfer apps require massive updates, local storage, complex password managers, and a steep learning curve.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High Customer Acquisition Costs (CAC):</a:t>
            </a:r>
            <a:r>
              <a:rPr lang="en-US" sz="2800" dirty="0">
                <a:solidFill>
                  <a:srgbClr val="0070C0"/>
                </a:solidFill>
              </a:rPr>
              <a:t> Traditional </a:t>
            </a:r>
            <a:r>
              <a:rPr lang="en-US" sz="2800" dirty="0" err="1">
                <a:solidFill>
                  <a:srgbClr val="0070C0"/>
                </a:solidFill>
              </a:rPr>
              <a:t>fintech</a:t>
            </a:r>
            <a:r>
              <a:rPr lang="en-US" sz="2800" dirty="0">
                <a:solidFill>
                  <a:srgbClr val="0070C0"/>
                </a:solidFill>
              </a:rPr>
              <a:t> platforms spend immense capital competing for downloads in crowded app marketplaces.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High Transaction Tolls:</a:t>
            </a:r>
            <a:r>
              <a:rPr lang="en-US" sz="2800" dirty="0">
                <a:solidFill>
                  <a:srgbClr val="0070C0"/>
                </a:solidFill>
              </a:rPr>
              <a:t> Legacy non-digital banks and retail agents charge up to </a:t>
            </a:r>
            <a:r>
              <a:rPr lang="en-US" sz="2800" b="1" dirty="0">
                <a:solidFill>
                  <a:srgbClr val="0070C0"/>
                </a:solidFill>
              </a:rPr>
              <a:t>14.99%</a:t>
            </a:r>
            <a:r>
              <a:rPr lang="en-US" sz="2800" dirty="0">
                <a:solidFill>
                  <a:srgbClr val="0070C0"/>
                </a:solidFill>
              </a:rPr>
              <a:t> per transfer due to massive retail overhead.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Complex Digital Onboarding:</a:t>
            </a:r>
            <a:r>
              <a:rPr lang="en-US" sz="2800" dirty="0">
                <a:solidFill>
                  <a:srgbClr val="0070C0"/>
                </a:solidFill>
              </a:rPr>
              <a:t> Document uploading and long registration fields often cause user drop-off in migrant communities.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14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33286" y="0"/>
            <a:ext cx="10903889" cy="71760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Global Market </a:t>
            </a:r>
            <a:r>
              <a:rPr lang="en-US" sz="4000" b="1" dirty="0">
                <a:solidFill>
                  <a:srgbClr val="0070C0"/>
                </a:solidFill>
              </a:rPr>
              <a:t>Size &amp; Growth Trajectory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5010" y="1276946"/>
            <a:ext cx="11092069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Macro Picture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Total Cross-Border Volume:</a:t>
            </a:r>
            <a:r>
              <a:rPr lang="en-US" sz="2800" dirty="0">
                <a:solidFill>
                  <a:srgbClr val="0070C0"/>
                </a:solidFill>
              </a:rPr>
              <a:t> Encompasses </a:t>
            </a:r>
            <a:r>
              <a:rPr lang="en-US" sz="2800" b="1" dirty="0">
                <a:solidFill>
                  <a:srgbClr val="0070C0"/>
                </a:solidFill>
              </a:rPr>
              <a:t>$905 billion</a:t>
            </a:r>
            <a:r>
              <a:rPr lang="en-US" sz="2800" dirty="0">
                <a:solidFill>
                  <a:srgbClr val="0070C0"/>
                </a:solidFill>
              </a:rPr>
              <a:t> in global migration flows.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Industry Revenue Market Size:</a:t>
            </a:r>
            <a:r>
              <a:rPr lang="en-US" sz="2800" dirty="0">
                <a:solidFill>
                  <a:srgbClr val="0070C0"/>
                </a:solidFill>
              </a:rPr>
              <a:t> Valued at </a:t>
            </a:r>
            <a:r>
              <a:rPr lang="en-US" sz="2800" b="1" dirty="0">
                <a:solidFill>
                  <a:srgbClr val="0070C0"/>
                </a:solidFill>
              </a:rPr>
              <a:t>$132.18 billion</a:t>
            </a:r>
            <a:r>
              <a:rPr lang="en-US" sz="2800" dirty="0">
                <a:solidFill>
                  <a:srgbClr val="0070C0"/>
                </a:solidFill>
              </a:rPr>
              <a:t> (fees, software, and FX processing revenue).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Market Velocity:</a:t>
            </a:r>
            <a:r>
              <a:rPr lang="en-US" sz="2800" dirty="0">
                <a:solidFill>
                  <a:srgbClr val="0070C0"/>
                </a:solidFill>
              </a:rPr>
              <a:t> Expanding at a Compound Annual Growth Rate (CAGR) of </a:t>
            </a:r>
            <a:r>
              <a:rPr lang="en-US" sz="2800" b="1" dirty="0">
                <a:solidFill>
                  <a:srgbClr val="0070C0"/>
                </a:solidFill>
              </a:rPr>
              <a:t>6.1% to 9.4%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Primary Catalysts:</a:t>
            </a:r>
            <a:r>
              <a:rPr lang="en-US" sz="2800" dirty="0">
                <a:solidFill>
                  <a:srgbClr val="0070C0"/>
                </a:solidFill>
              </a:rPr>
              <a:t> Rapidly rising international labor migration and explosive mobile money wallet adoption.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4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323936" y="0"/>
            <a:ext cx="10903889" cy="71760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Ecosystem Segmentation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65010" y="1336358"/>
            <a:ext cx="11092069" cy="338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Three Forces Dominating the Market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Legacy Giants:</a:t>
            </a:r>
            <a:r>
              <a:rPr lang="en-US" sz="2800" dirty="0">
                <a:solidFill>
                  <a:srgbClr val="0070C0"/>
                </a:solidFill>
              </a:rPr>
              <a:t> Traditional Money Transfer Operators (MTOs) shifting brick-and-mortar networks to digital channels.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Digital-First Challengers:</a:t>
            </a:r>
            <a:r>
              <a:rPr lang="en-US" sz="2800" dirty="0">
                <a:solidFill>
                  <a:srgbClr val="0070C0"/>
                </a:solidFill>
              </a:rPr>
              <a:t> Agile, asset-light </a:t>
            </a:r>
            <a:r>
              <a:rPr lang="en-US" sz="2800" dirty="0" err="1">
                <a:solidFill>
                  <a:srgbClr val="0070C0"/>
                </a:solidFill>
              </a:rPr>
              <a:t>fintech</a:t>
            </a:r>
            <a:r>
              <a:rPr lang="en-US" sz="2800" dirty="0">
                <a:solidFill>
                  <a:srgbClr val="0070C0"/>
                </a:solidFill>
              </a:rPr>
              <a:t> platforms utilizing localized payment rails to undercut pricing.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Global Banking Institutions:</a:t>
            </a:r>
            <a:r>
              <a:rPr lang="en-US" sz="2800" dirty="0">
                <a:solidFill>
                  <a:srgbClr val="0070C0"/>
                </a:solidFill>
              </a:rPr>
              <a:t> Deeply entrenched networks maintaining high pricing power over institutional and retail volume.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3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952586" y="-105352"/>
            <a:ext cx="10903889" cy="71760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Our Value Proposition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26935" y="1011615"/>
            <a:ext cx="11092069" cy="5539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Zero-Friction Alternative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No New Downloads:</a:t>
            </a:r>
            <a:r>
              <a:rPr lang="en-US" sz="2800" dirty="0">
                <a:solidFill>
                  <a:srgbClr val="0070C0"/>
                </a:solidFill>
              </a:rPr>
              <a:t> Plugs directly into WhatsApp—the application that </a:t>
            </a:r>
            <a:r>
              <a:rPr lang="en-US" sz="2800" b="1" dirty="0">
                <a:solidFill>
                  <a:srgbClr val="0070C0"/>
                </a:solidFill>
              </a:rPr>
              <a:t>95%+ of our target diaspora</a:t>
            </a:r>
            <a:r>
              <a:rPr lang="en-US" sz="2800" dirty="0">
                <a:solidFill>
                  <a:srgbClr val="0070C0"/>
                </a:solidFill>
              </a:rPr>
              <a:t> already opens multiple times every day.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Conversational UX:</a:t>
            </a:r>
            <a:r>
              <a:rPr lang="en-US" sz="2800" dirty="0">
                <a:solidFill>
                  <a:srgbClr val="0070C0"/>
                </a:solidFill>
              </a:rPr>
              <a:t> A native AI chat engine guides the user through the transaction step-by-step using text, localized language options, and simple numerical prompts.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Institutional Security:</a:t>
            </a:r>
            <a:r>
              <a:rPr lang="en-US" sz="2800" dirty="0">
                <a:solidFill>
                  <a:srgbClr val="0070C0"/>
                </a:solidFill>
              </a:rPr>
              <a:t> Fully end-to-end encrypted sessions paired with localized mobile biometrics (</a:t>
            </a:r>
            <a:r>
              <a:rPr lang="en-US" sz="2800" dirty="0" err="1">
                <a:solidFill>
                  <a:srgbClr val="0070C0"/>
                </a:solidFill>
              </a:rPr>
              <a:t>FaceID</a:t>
            </a:r>
            <a:r>
              <a:rPr lang="en-US" sz="2800" dirty="0">
                <a:solidFill>
                  <a:srgbClr val="0070C0"/>
                </a:solidFill>
              </a:rPr>
              <a:t>/Fingerprint validation via rapid web-views).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Drastically Lower Fees:</a:t>
            </a:r>
            <a:r>
              <a:rPr lang="en-US" sz="2800" dirty="0">
                <a:solidFill>
                  <a:srgbClr val="0070C0"/>
                </a:solidFill>
              </a:rPr>
              <a:t> Operates an asset-light, fully digital business model that aligns directly with the UN Sustainable Development Goal target of sub-3% transaction costs.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1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" y="308117"/>
            <a:ext cx="9144000" cy="65077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WhatsApp Remittances – Key Challenges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6720" y="871430"/>
            <a:ext cx="11330609" cy="6400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The Roadblocks to Social-First Money Transfers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Compliance &amp; UX Friction: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Meta requires strict user privacy, but regulators demand deep KYC/AML data. Keeping onboarding frictionless inside a chat window is a delicate balance.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Security &amp; Impersonation Risks: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Social accounts are vulnerable to phishing and account takeovers. A hacked WhatsApp account means unauthorized financial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Partner Settlement Latency: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WhatsApp initiates payments instantly, but if the back-end licensed partner relies on batch-processing networks, transactions will stall.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Meta Platform Dependency: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Relying entirely on Meta’s WhatsApp Business API exposes the business to sudden API pricing shifts, strict compliance policy updates, or unexpected platform bans.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4107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" y="308117"/>
            <a:ext cx="9144000" cy="650778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70C0"/>
                </a:solidFill>
              </a:rPr>
              <a:t>WhatsApp Remittances – Key Opportunities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8396" y="958895"/>
            <a:ext cx="11092069" cy="5970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Why Chat-Based Payments are the Future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Zero Learning Curve:</a:t>
            </a:r>
            <a:r>
              <a:rPr lang="en-US" sz="2800" dirty="0">
                <a:solidFill>
                  <a:srgbClr val="0070C0"/>
                </a:solidFill>
              </a:rPr>
              <a:t> Eliminates the friction of downloading, installing, and learning a new standalone financial app. Senders transfer funds as easily as sending a text message.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Hyper-Localized Marketing:</a:t>
            </a:r>
            <a:r>
              <a:rPr lang="en-US" sz="2800" dirty="0">
                <a:solidFill>
                  <a:srgbClr val="0070C0"/>
                </a:solidFill>
              </a:rPr>
              <a:t> Leverages viral growth hooks. Senders can invite friends, share transaction status updates, and chat with automated customer support bots in their native language.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Unrivaled Engagement:</a:t>
            </a:r>
            <a:r>
              <a:rPr lang="en-US" sz="2800" dirty="0">
                <a:solidFill>
                  <a:srgbClr val="0070C0"/>
                </a:solidFill>
              </a:rPr>
              <a:t> Traditional remittance apps are opened once or twice a month. WhatsApp is opened multiple times an hour, unlocking massive opportunities for cross-selling secondary financial services.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Low Customer Acquisition Cost (CAC):</a:t>
            </a:r>
            <a:r>
              <a:rPr lang="en-US" sz="2800" dirty="0">
                <a:solidFill>
                  <a:srgbClr val="0070C0"/>
                </a:solidFill>
              </a:rPr>
              <a:t> Reaching users where they already spend their digital lives drastically lowers marketing costs compared to standalone apps.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3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6311"/>
            <a:ext cx="9144000" cy="6507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The Technology Architecture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55373" y="1930470"/>
            <a:ext cx="11155679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Conversational Front-End Powered by Global SaaS </a:t>
            </a:r>
            <a:r>
              <a:rPr lang="en-US" sz="2800" b="1" dirty="0" smtClean="0">
                <a:solidFill>
                  <a:srgbClr val="0070C0"/>
                </a:solidFill>
              </a:rPr>
              <a:t>Back-Ends</a:t>
            </a:r>
            <a:endParaRPr lang="en-US" sz="2800" b="1" dirty="0">
              <a:solidFill>
                <a:srgbClr val="0070C0"/>
              </a:solidFill>
            </a:endParaRPr>
          </a:p>
          <a:p>
            <a:r>
              <a:rPr lang="en-US" sz="2800" b="1" dirty="0">
                <a:solidFill>
                  <a:srgbClr val="0070C0"/>
                </a:solidFill>
              </a:rPr>
              <a:t>The Interface Layer:</a:t>
            </a:r>
            <a:r>
              <a:rPr lang="en-US" sz="2800" dirty="0">
                <a:solidFill>
                  <a:srgbClr val="0070C0"/>
                </a:solidFill>
              </a:rPr>
              <a:t> Built on top of official </a:t>
            </a:r>
            <a:r>
              <a:rPr lang="en-US" sz="2800" b="1" dirty="0">
                <a:solidFill>
                  <a:srgbClr val="0070C0"/>
                </a:solidFill>
              </a:rPr>
              <a:t>WhatsApp Business APIs</a:t>
            </a:r>
            <a:r>
              <a:rPr lang="en-US" sz="2800" dirty="0">
                <a:solidFill>
                  <a:srgbClr val="0070C0"/>
                </a:solidFill>
              </a:rPr>
              <a:t> linked to an automated, context-aware Natural Language Processing (NLP) chat engine.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Embedded Regulatory Backing:</a:t>
            </a:r>
            <a:r>
              <a:rPr lang="en-US" sz="2800" dirty="0">
                <a:solidFill>
                  <a:srgbClr val="0070C0"/>
                </a:solidFill>
              </a:rPr>
              <a:t> Operates safely by connecting to premier, licensed financial </a:t>
            </a:r>
            <a:r>
              <a:rPr lang="en-US" sz="2800" dirty="0" smtClean="0">
                <a:solidFill>
                  <a:srgbClr val="0070C0"/>
                </a:solidFill>
              </a:rPr>
              <a:t> partners to </a:t>
            </a:r>
            <a:r>
              <a:rPr lang="en-US" sz="2800" dirty="0">
                <a:solidFill>
                  <a:srgbClr val="0070C0"/>
                </a:solidFill>
              </a:rPr>
              <a:t>instantly hold, settle, and </a:t>
            </a:r>
            <a:r>
              <a:rPr lang="en-US" sz="2800" dirty="0" smtClean="0">
                <a:solidFill>
                  <a:srgbClr val="0070C0"/>
                </a:solidFill>
              </a:rPr>
              <a:t>deliver remittances to Customers on demand.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b="1" dirty="0">
                <a:solidFill>
                  <a:srgbClr val="0070C0"/>
                </a:solidFill>
              </a:rPr>
              <a:t>The Global Mobile Matrix:</a:t>
            </a:r>
            <a:r>
              <a:rPr lang="en-US" sz="2800" dirty="0">
                <a:solidFill>
                  <a:srgbClr val="0070C0"/>
                </a:solidFill>
              </a:rPr>
              <a:t> Integrated with real-time payout hubs </a:t>
            </a:r>
            <a:r>
              <a:rPr lang="en-US" sz="2800" dirty="0" smtClean="0">
                <a:solidFill>
                  <a:srgbClr val="0070C0"/>
                </a:solidFill>
              </a:rPr>
              <a:t>to </a:t>
            </a:r>
            <a:r>
              <a:rPr lang="en-US" sz="2800" dirty="0">
                <a:solidFill>
                  <a:srgbClr val="0070C0"/>
                </a:solidFill>
              </a:rPr>
              <a:t>deliver money into recipient </a:t>
            </a:r>
            <a:r>
              <a:rPr lang="en-US" sz="2800" dirty="0" smtClean="0">
                <a:solidFill>
                  <a:srgbClr val="0070C0"/>
                </a:solidFill>
              </a:rPr>
              <a:t>bank accounts instantly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89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75147" y="0"/>
            <a:ext cx="11380967" cy="86867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Top Global Remittance Corridors</a:t>
            </a:r>
            <a:endParaRPr lang="en-US" sz="44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50296" y="1422831"/>
            <a:ext cx="11020508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Where the Money Flows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United </a:t>
            </a:r>
            <a:r>
              <a:rPr lang="en-US" sz="2800" b="1" dirty="0" smtClean="0">
                <a:solidFill>
                  <a:srgbClr val="0070C0"/>
                </a:solidFill>
              </a:rPr>
              <a:t>States</a:t>
            </a:r>
            <a:r>
              <a:rPr lang="en-US" altLang="en-US" sz="2800" b="1" dirty="0">
                <a:solidFill>
                  <a:srgbClr val="0070C0"/>
                </a:solidFill>
              </a:rPr>
              <a:t> →</a:t>
            </a:r>
            <a:r>
              <a:rPr lang="en-US" sz="2800" b="1" dirty="0" smtClean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Mexico: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$65+ Billion</a:t>
            </a:r>
            <a:r>
              <a:rPr lang="en-US" sz="2800" dirty="0">
                <a:solidFill>
                  <a:srgbClr val="0070C0"/>
                </a:solidFill>
              </a:rPr>
              <a:t> | The largest single corridor; rapidly shifting from cash to digital.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United States </a:t>
            </a:r>
            <a:r>
              <a:rPr lang="en-US" altLang="en-US" sz="2800" b="1" dirty="0">
                <a:solidFill>
                  <a:srgbClr val="0070C0"/>
                </a:solidFill>
              </a:rPr>
              <a:t>→ </a:t>
            </a:r>
            <a:r>
              <a:rPr lang="en-US" sz="2800" b="1" dirty="0" smtClean="0">
                <a:solidFill>
                  <a:srgbClr val="0070C0"/>
                </a:solidFill>
              </a:rPr>
              <a:t>India</a:t>
            </a:r>
            <a:r>
              <a:rPr lang="en-US" sz="2800" b="1" dirty="0">
                <a:solidFill>
                  <a:srgbClr val="0070C0"/>
                </a:solidFill>
              </a:rPr>
              <a:t>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$40+ Billion</a:t>
            </a:r>
            <a:r>
              <a:rPr lang="en-US" sz="2800" dirty="0">
                <a:solidFill>
                  <a:srgbClr val="0070C0"/>
                </a:solidFill>
              </a:rPr>
              <a:t> | High-value professional transfers directly integrating with India's UPI.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Saudi Arabia / UAE </a:t>
            </a:r>
            <a:r>
              <a:rPr lang="en-US" altLang="en-US" sz="2800" b="1" dirty="0">
                <a:solidFill>
                  <a:srgbClr val="0070C0"/>
                </a:solidFill>
              </a:rPr>
              <a:t>→ </a:t>
            </a:r>
            <a:r>
              <a:rPr lang="en-US" sz="2800" b="1" dirty="0" smtClean="0">
                <a:solidFill>
                  <a:srgbClr val="0070C0"/>
                </a:solidFill>
              </a:rPr>
              <a:t>South </a:t>
            </a:r>
            <a:r>
              <a:rPr lang="en-US" sz="2800" b="1" dirty="0">
                <a:solidFill>
                  <a:srgbClr val="0070C0"/>
                </a:solidFill>
              </a:rPr>
              <a:t>Asia: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$30+ Billion</a:t>
            </a:r>
            <a:r>
              <a:rPr lang="en-US" sz="2800" dirty="0">
                <a:solidFill>
                  <a:srgbClr val="0070C0"/>
                </a:solidFill>
              </a:rPr>
              <a:t> | High-density temporary worker corridors with the lowest global transaction fees.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United States </a:t>
            </a:r>
            <a:r>
              <a:rPr lang="en-US" altLang="en-US" sz="2800" b="1" dirty="0">
                <a:solidFill>
                  <a:srgbClr val="0070C0"/>
                </a:solidFill>
              </a:rPr>
              <a:t>→ </a:t>
            </a:r>
            <a:r>
              <a:rPr lang="en-US" sz="2800" b="1" dirty="0" smtClean="0">
                <a:solidFill>
                  <a:srgbClr val="0070C0"/>
                </a:solidFill>
              </a:rPr>
              <a:t>Philippines</a:t>
            </a:r>
            <a:r>
              <a:rPr lang="en-US" sz="2800" b="1" dirty="0">
                <a:solidFill>
                  <a:srgbClr val="0070C0"/>
                </a:solidFill>
              </a:rPr>
              <a:t>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$15 - $18 Billion</a:t>
            </a:r>
            <a:r>
              <a:rPr lang="en-US" sz="2800" dirty="0">
                <a:solidFill>
                  <a:srgbClr val="0070C0"/>
                </a:solidFill>
              </a:rPr>
              <a:t> | Hyper-competitive; heavily reliant on mobile wallet payouts (</a:t>
            </a:r>
            <a:r>
              <a:rPr lang="en-US" sz="2800" dirty="0" err="1">
                <a:solidFill>
                  <a:srgbClr val="0070C0"/>
                </a:solidFill>
              </a:rPr>
              <a:t>GCash</a:t>
            </a:r>
            <a:r>
              <a:rPr lang="en-US" sz="2800" dirty="0">
                <a:solidFill>
                  <a:srgbClr val="0070C0"/>
                </a:solidFill>
              </a:rPr>
              <a:t>/Maya).</a:t>
            </a:r>
          </a:p>
        </p:txBody>
      </p:sp>
    </p:spTree>
    <p:extLst>
      <p:ext uri="{BB962C8B-B14F-4D97-AF65-F5344CB8AC3E}">
        <p14:creationId xmlns:p14="http://schemas.microsoft.com/office/powerpoint/2010/main" val="258896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689697" y="142875"/>
            <a:ext cx="11380967" cy="86867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Major Market Players</a:t>
            </a:r>
            <a:endParaRPr lang="en-US" sz="44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50296" y="1422831"/>
            <a:ext cx="11020508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 Competitive Breakdown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The Revenue Giant: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Western Union</a:t>
            </a:r>
            <a:r>
              <a:rPr lang="en-US" sz="2800" dirty="0">
                <a:solidFill>
                  <a:srgbClr val="0070C0"/>
                </a:solidFill>
              </a:rPr>
              <a:t> brings in </a:t>
            </a:r>
            <a:r>
              <a:rPr lang="en-US" sz="2800" b="1" dirty="0">
                <a:solidFill>
                  <a:srgbClr val="0070C0"/>
                </a:solidFill>
              </a:rPr>
              <a:t>$4.1 billion</a:t>
            </a:r>
            <a:r>
              <a:rPr lang="en-US" sz="2800" dirty="0">
                <a:solidFill>
                  <a:srgbClr val="0070C0"/>
                </a:solidFill>
              </a:rPr>
              <a:t>, pivoting hard toward its branded digital apps.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The Volume Leader: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Wise</a:t>
            </a:r>
            <a:r>
              <a:rPr lang="en-US" sz="2800" dirty="0">
                <a:solidFill>
                  <a:srgbClr val="0070C0"/>
                </a:solidFill>
              </a:rPr>
              <a:t> processes an immense </a:t>
            </a:r>
            <a:r>
              <a:rPr lang="en-US" sz="2800" b="1" dirty="0">
                <a:solidFill>
                  <a:srgbClr val="0070C0"/>
                </a:solidFill>
              </a:rPr>
              <a:t>$185+ billion</a:t>
            </a:r>
            <a:r>
              <a:rPr lang="en-US" sz="2800" dirty="0">
                <a:solidFill>
                  <a:srgbClr val="0070C0"/>
                </a:solidFill>
              </a:rPr>
              <a:t> annually, generating </a:t>
            </a:r>
            <a:r>
              <a:rPr lang="en-US" sz="2800" b="1" dirty="0">
                <a:solidFill>
                  <a:srgbClr val="0070C0"/>
                </a:solidFill>
              </a:rPr>
              <a:t>$1.55 billion</a:t>
            </a:r>
            <a:r>
              <a:rPr lang="en-US" sz="2800" dirty="0">
                <a:solidFill>
                  <a:srgbClr val="0070C0"/>
                </a:solidFill>
              </a:rPr>
              <a:t> in revenue.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The Diaspora Specialist: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 err="1">
                <a:solidFill>
                  <a:srgbClr val="0070C0"/>
                </a:solidFill>
              </a:rPr>
              <a:t>Remitly</a:t>
            </a:r>
            <a:r>
              <a:rPr lang="en-US" sz="2800" dirty="0">
                <a:solidFill>
                  <a:srgbClr val="0070C0"/>
                </a:solidFill>
              </a:rPr>
              <a:t> processes </a:t>
            </a:r>
            <a:r>
              <a:rPr lang="en-US" sz="2800" b="1" dirty="0">
                <a:solidFill>
                  <a:srgbClr val="0070C0"/>
                </a:solidFill>
              </a:rPr>
              <a:t>$74.9 billion</a:t>
            </a:r>
            <a:r>
              <a:rPr lang="en-US" sz="2800" dirty="0">
                <a:solidFill>
                  <a:srgbClr val="0070C0"/>
                </a:solidFill>
              </a:rPr>
              <a:t> annually, scaling past 9.3 million active users.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The Global Banks: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JPMorgan Chase, Citi, </a:t>
            </a:r>
            <a:r>
              <a:rPr lang="en-US" sz="2800" b="1" dirty="0" err="1">
                <a:solidFill>
                  <a:srgbClr val="0070C0"/>
                </a:solidFill>
              </a:rPr>
              <a:t>BofA</a:t>
            </a:r>
            <a:r>
              <a:rPr lang="en-US" sz="2800" b="1" dirty="0">
                <a:solidFill>
                  <a:srgbClr val="0070C0"/>
                </a:solidFill>
              </a:rPr>
              <a:t>, and Wells Fargo</a:t>
            </a:r>
            <a:r>
              <a:rPr lang="en-US" sz="2800" dirty="0">
                <a:solidFill>
                  <a:srgbClr val="0070C0"/>
                </a:solidFill>
              </a:rPr>
              <a:t> leverage massive international Vostro networks.</a:t>
            </a:r>
          </a:p>
        </p:txBody>
      </p:sp>
    </p:spTree>
    <p:extLst>
      <p:ext uri="{BB962C8B-B14F-4D97-AF65-F5344CB8AC3E}">
        <p14:creationId xmlns:p14="http://schemas.microsoft.com/office/powerpoint/2010/main" val="177665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75147" y="0"/>
            <a:ext cx="11380967" cy="868677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0070C0"/>
                </a:solidFill>
              </a:rPr>
              <a:t>Targeted Market &amp; High-Velocity Corridors</a:t>
            </a:r>
            <a:endParaRPr lang="en-US" sz="44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88396" y="1249118"/>
            <a:ext cx="11020508" cy="5108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Capturing Ultra-Lucrative, Mobile-Normalized Migration Pipelines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North America(US/Canada) → India: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Targeting the massive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US-to-India pipeline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($45+ Billion market) by transforming hard-cash retail users into instant digital chat senders.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The Gulf Region → South Asia: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Fueling high-density temporary worker channels from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UAE/Saudi Arabia to India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($30+ Billion market), offering localized language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UK→ India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>
                <a:solidFill>
                  <a:srgbClr val="0070C0"/>
                </a:solidFill>
              </a:rPr>
              <a:t>Singapore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→ India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err="1" smtClean="0">
                <a:solidFill>
                  <a:srgbClr val="0070C0"/>
                </a:solidFill>
              </a:rPr>
              <a:t>Aus</a:t>
            </a:r>
            <a:r>
              <a:rPr lang="en-US" altLang="en-US" sz="2800" b="1" dirty="0" smtClean="0">
                <a:solidFill>
                  <a:srgbClr val="0070C0"/>
                </a:solidFill>
              </a:rPr>
              <a:t>/NZ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→ India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341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13684" y="220652"/>
            <a:ext cx="10967500" cy="749407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Regulatory Compliance &amp; Risk Operations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29371" y="1290232"/>
            <a:ext cx="11139778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Micro-Onboarding (</a:t>
            </a:r>
            <a:r>
              <a:rPr kumimoji="0" lang="en-US" altLang="en-US" sz="28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eKYC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):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 Triggers a secure, temporary web-view inside the chat context utilizing automated tools like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Persona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 or Partner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Kyc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 for instant global document and facial verification.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Real-Time Screening: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 Continuous screening against international sanction and AML lists operating quietly in the background before any funds clear.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Anti-Fraud Guardrails: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Google Sans"/>
              </a:rPr>
              <a:t> Automated behavioral AI detection monitoring suspicious payment velocities, anomalous geographical logins, and chat anomalies to stop account takeover risks.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479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48" y="220652"/>
            <a:ext cx="9144000" cy="65077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Monetization &amp; Business Model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9715" y="1005181"/>
            <a:ext cx="11092069" cy="4677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Sustainable Profitability Powered by High-Velocity Volume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The Take-Rate Model:</a:t>
            </a:r>
            <a:r>
              <a:rPr lang="en-US" sz="2800" dirty="0">
                <a:solidFill>
                  <a:srgbClr val="0070C0"/>
                </a:solidFill>
              </a:rPr>
              <a:t> Generates a predictable margin on every single transfer comprised of a low, flat transaction processing fee combined with a transparent, competitive Foreign Exchange (FX) markup.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Business-to-Business Subscriptions (B2B SaaS):</a:t>
            </a:r>
            <a:r>
              <a:rPr lang="en-US" sz="2800" dirty="0">
                <a:solidFill>
                  <a:srgbClr val="0070C0"/>
                </a:solidFill>
              </a:rPr>
              <a:t> White-labeling our custom WhatsApp conversational banking layer to localized credit unions, regional MTOs, and smaller banks looking to retain digital customers.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LTV Expansion:</a:t>
            </a:r>
            <a:r>
              <a:rPr lang="en-US" sz="2800" dirty="0">
                <a:solidFill>
                  <a:srgbClr val="0070C0"/>
                </a:solidFill>
              </a:rPr>
              <a:t> Unlocking secondary financial features natively inside the WhatsApp interface (such as cross-border micro-insurance, international mobile top-ups, and global bill pay).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9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48" y="220652"/>
            <a:ext cx="9144000" cy="65077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Growth Road Map &amp; Next Horizons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9715" y="1220624"/>
            <a:ext cx="11092069" cy="424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The Timeline to Scale Global Conversational Banking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Phase 1 (Current):</a:t>
            </a:r>
            <a:r>
              <a:rPr lang="en-US" sz="2800" dirty="0">
                <a:solidFill>
                  <a:srgbClr val="0070C0"/>
                </a:solidFill>
              </a:rPr>
              <a:t> Perfect initial high-volume corridors (US-to-</a:t>
            </a:r>
            <a:r>
              <a:rPr lang="en-US" sz="2800" dirty="0" err="1">
                <a:solidFill>
                  <a:srgbClr val="0070C0"/>
                </a:solidFill>
              </a:rPr>
              <a:t>LatAm</a:t>
            </a:r>
            <a:r>
              <a:rPr lang="en-US" sz="2800" dirty="0">
                <a:solidFill>
                  <a:srgbClr val="0070C0"/>
                </a:solidFill>
              </a:rPr>
              <a:t>) and secure anchor financial infrastructure partnerships.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Phase 2 (Next 12 Months):</a:t>
            </a:r>
            <a:r>
              <a:rPr lang="en-US" sz="2800" dirty="0">
                <a:solidFill>
                  <a:srgbClr val="0070C0"/>
                </a:solidFill>
              </a:rPr>
              <a:t> Roll out advanced conversational capabilities across multi-lingual engines and expand payouts deeply into South Asia and the African mobile wallet landscape.</a:t>
            </a:r>
          </a:p>
          <a:p>
            <a:r>
              <a:rPr lang="en-US" sz="2800" b="1" dirty="0">
                <a:solidFill>
                  <a:srgbClr val="0070C0"/>
                </a:solidFill>
              </a:rPr>
              <a:t>Phase 3 (Long-Term Horizon):</a:t>
            </a:r>
            <a:r>
              <a:rPr lang="en-US" sz="2800" dirty="0">
                <a:solidFill>
                  <a:srgbClr val="0070C0"/>
                </a:solidFill>
              </a:rPr>
              <a:t> Evolve the platform into an all-in-one conversational finance super-app, integrating cross-border micro-lending, multi-currency savings accounts, and remittance-backed credit cards.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8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48" y="220652"/>
            <a:ext cx="9144000" cy="65077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Source Channels &amp; User Interfaces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9342" y="1012866"/>
            <a:ext cx="1056463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How Senders Initiate Transfers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Mobile Apps (67% of Digital Share):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The primary industry growth engine powered by biometric security and instant card funding.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Web Portals (33% of Digital Share):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Favored by older demographics and high-value senders executing complex, multi-currency transfers.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Retail Agent Networks: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Retail outlets, supermarkets, and post offices serving cash-reliant communities.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Social &amp; Chat Platforms: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Emerging channels like </a:t>
            </a: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WhatsApp Pay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and </a:t>
            </a:r>
            <a:r>
              <a:rPr lang="en-US" sz="2800" b="1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WeChat Pay</a:t>
            </a:r>
            <a:r>
              <a:rPr lang="en-US" sz="2800" b="0" u="none" strike="noStrike" dirty="0" smtClean="0">
                <a:solidFill>
                  <a:srgbClr val="0070C0"/>
                </a:solidFill>
                <a:effectLst/>
                <a:latin typeface="Google Sans"/>
              </a:rPr>
              <a:t> embedding financial layers directly into text threads.</a:t>
            </a:r>
            <a:endParaRPr lang="en-US" sz="2800" b="0" u="none" strike="noStrike" dirty="0">
              <a:solidFill>
                <a:srgbClr val="0070C0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56903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548" y="220652"/>
            <a:ext cx="9144000" cy="65077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Next Steps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9715" y="2082400"/>
            <a:ext cx="11092069" cy="2523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82505" rIns="0" bIns="182505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Build POC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Onboard Partners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End to End Testing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Deploy to few Partners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rgbClr val="0070C0"/>
                </a:solidFill>
              </a:rPr>
              <a:t>Launch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1423" y="0"/>
            <a:ext cx="2300577" cy="17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8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1409</Words>
  <Application>Microsoft Office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</vt:lpstr>
      <vt:lpstr>Calibri</vt:lpstr>
      <vt:lpstr>Calibri Light</vt:lpstr>
      <vt:lpstr>Google Sans</vt:lpstr>
      <vt:lpstr>Wingdings</vt:lpstr>
      <vt:lpstr>Office Theme</vt:lpstr>
      <vt:lpstr>PowerPoint Presentation</vt:lpstr>
      <vt:lpstr>Executive Summary &amp; Mission</vt:lpstr>
      <vt:lpstr>The Problem We Solve</vt:lpstr>
      <vt:lpstr>Global Market Size &amp; Growth Trajectory</vt:lpstr>
      <vt:lpstr>Ecosystem Segmentation</vt:lpstr>
      <vt:lpstr>Our Value Proposition</vt:lpstr>
      <vt:lpstr>WhatsApp Remittances – Key Challenges</vt:lpstr>
      <vt:lpstr>WhatsApp Remittances – Key Opportunities</vt:lpstr>
      <vt:lpstr>The Technology Architecture</vt:lpstr>
      <vt:lpstr>Top Global Remittance Corridors</vt:lpstr>
      <vt:lpstr>Major Market Players</vt:lpstr>
      <vt:lpstr>Targeted Market &amp; High-Velocity Corridors</vt:lpstr>
      <vt:lpstr>Regulatory Compliance &amp; Risk Operations</vt:lpstr>
      <vt:lpstr>Monetization &amp; Business Model</vt:lpstr>
      <vt:lpstr>Growth Road Map &amp; Next Horizons</vt:lpstr>
      <vt:lpstr>Source Channels &amp; User Interfaces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 Kattelu</dc:creator>
  <cp:lastModifiedBy>Nagaraja kattelu</cp:lastModifiedBy>
  <cp:revision>7</cp:revision>
  <dcterms:created xsi:type="dcterms:W3CDTF">2026-06-06T22:00:18Z</dcterms:created>
  <dcterms:modified xsi:type="dcterms:W3CDTF">2026-06-06T22:39:30Z</dcterms:modified>
</cp:coreProperties>
</file>